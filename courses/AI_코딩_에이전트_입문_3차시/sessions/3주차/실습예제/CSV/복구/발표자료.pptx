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발표는 한 해 동안의 주문 기록을 정리해서 본 결과입니다. 먼저 이 데이터는 연습용으로 만든 모의 데이터이고, 실제 거래 기록이 아니라는 점을 말씀드립니다. 원본은 2,424행이었지만 같은 주문이 두 번 적힌 행이 있어서 고유 주문번호는 2,400건이었습니다. 취소나 대기 상태의 주문과 수량·배송일이 불가능한 기록을 빼고 2,203건을 분석했습니다. 원본의 90.9%입니다. 어느 값이 맞는지 정할 수 없는 2행은 지우거나 채우지 않고 보류로 남겼습니다. 이어서 핵심 지표와 확인할 부분을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지표 여섯 개입니다. 총매출은 205,274,700원입니다. 여기서 총매출은 취소와 대기 주문을 빼고, 반품은 빼지 않은 금액입니다. 주문 수는 2,203건으로, 중복을 정리해 한 행이 한 주문이 되게 한 뒤의 숫자입니다. 평균 평점은 4.44점인데, 평점을 남기지 않은 64건은 0점으로 세지 않고 빼서 2,139건을 기준으로 계산했습니다. 마진율 53.2%는 상품 원가만 뺀 값이라 이익률로 읽으면 안 됩니다. 평균 배송일 3.45일도 배송 기록 2,199건을 기준으로 한 값입니다. 평균을 말할 때는 몇 건으로 나눈 값인지 함께 말해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이 결과를 결론으로 쓰기 전에 확인할 것들입니다. 먼저 사람이 정해야 할 기록이 6건 있습니다. 같은 주문번호인데 수량이 다르게 적힌 2행은 어느 쪽이 맞는지 알 수 없어 보류했고, 배송이 45일로 적힌 4행은 매출에는 넣고 배송 평균에서만 뺐습니다. 배송비를 매출에 넣을지, 반품을 뺄지도 정해야 합니다. 반품을 빼면 총매출은 195,141,300원이 됩니다. 한계도 분명합니다. 연습용 모의 데이터이고, 한 해 자료뿐이며, 마진은 이익이 아닙니다. 두 숫자가 함께 움직이는 것을 보더라도, 그것만으로 원인을 말할 수는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머리말"/>
          <p:cNvSpPr txBox="1"/>
          <p:nvPr/>
        </p:nvSpPr>
        <p:spPr>
          <a:xfrm>
            <a:off x="548640" y="320040"/>
            <a:ext cx="11094415" cy="1325880"/>
          </a:xfrm>
          <a:prstGeom prst="rect">
            <a:avLst/>
          </a:prstGeom>
          <a:noFill/>
        </p:spPr>
        <p:txBody>
          <a:bodyPr wrap="square" anchor="t" tIns="73152" bIns="73152">
            <a:no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문제와 데이터</a:t>
            </a:r>
          </a:p>
          <a:p>
            <a:pPr algn="l">
              <a:spcBef>
                <a:spcPts val="200"/>
              </a:spcBef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분석 대상은 원본 2,424행을 정리한 주문 2,203건입니다</a:t>
            </a:r>
          </a:p>
        </p:txBody>
      </p:sp>
      <p:sp>
        <p:nvSpPr>
          <p:cNvPr id="3" name="장식_구분선"/>
          <p:cNvSpPr/>
          <p:nvPr/>
        </p:nvSpPr>
        <p:spPr>
          <a:xfrm>
            <a:off x="548640" y="1700784"/>
            <a:ext cx="11094415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질문"/>
          <p:cNvSpPr/>
          <p:nvPr/>
        </p:nvSpPr>
        <p:spPr>
          <a:xfrm>
            <a:off x="548640" y="1828800"/>
            <a:ext cx="5394960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28600" rIns="228600" tIns="73152" bIns="73152">
            <a:no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우리가 답하려는 질문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월별 매출은 어떻게 움직였나?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어느 상품군이 매출과 마진을 만들었나?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고객 평점과 반품은 어떤 모습인가?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결론 전에 무엇을 확인해야 하나?</a:t>
            </a:r>
          </a:p>
        </p:txBody>
      </p:sp>
      <p:sp>
        <p:nvSpPr>
          <p:cNvPr id="5" name="데이터"/>
          <p:cNvSpPr/>
          <p:nvPr/>
        </p:nvSpPr>
        <p:spPr>
          <a:xfrm>
            <a:off x="6248095" y="1828800"/>
            <a:ext cx="5394960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28600" rIns="228600" tIns="73152" bIns="73152">
            <a:no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사용한 데이터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원본 2,424행 · 고유 주문번호 2,400건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분석 대상 2,203건 (원본의 90.9%)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제외 219행 · 확인이 필요해 보류 2행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기간 2025-01-01 ~ 2025-12-30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연습용 모의 데이터 (실제 기록 아님)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머리말"/>
          <p:cNvSpPr txBox="1"/>
          <p:nvPr/>
        </p:nvSpPr>
        <p:spPr>
          <a:xfrm>
            <a:off x="548640" y="320040"/>
            <a:ext cx="11094415" cy="1325880"/>
          </a:xfrm>
          <a:prstGeom prst="rect">
            <a:avLst/>
          </a:prstGeom>
          <a:noFill/>
        </p:spPr>
        <p:txBody>
          <a:bodyPr wrap="square" anchor="t" tIns="73152" bIns="73152">
            <a:no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핵심 지표</a:t>
            </a:r>
          </a:p>
          <a:p>
            <a:pPr algn="l">
              <a:spcBef>
                <a:spcPts val="200"/>
              </a:spcBef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 해 총매출은 205,274,700원입니다</a:t>
            </a:r>
          </a:p>
        </p:txBody>
      </p:sp>
      <p:sp>
        <p:nvSpPr>
          <p:cNvPr id="3" name="장식_구분선"/>
          <p:cNvSpPr/>
          <p:nvPr/>
        </p:nvSpPr>
        <p:spPr>
          <a:xfrm>
            <a:off x="548640" y="1700784"/>
            <a:ext cx="11094415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지표카드_총매출"/>
          <p:cNvSpPr/>
          <p:nvPr/>
        </p:nvSpPr>
        <p:spPr>
          <a:xfrm>
            <a:off x="548640" y="1828800"/>
            <a:ext cx="3545738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총매출</a:t>
            </a:r>
          </a:p>
          <a:p>
            <a:pPr algn="l">
              <a:spcBef>
                <a:spcPts val="600"/>
              </a:spcBef>
            </a:pPr>
            <a:r>
              <a:rPr sz="3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205,274,700원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취소·대기 제외, 반품 미차감</a:t>
            </a:r>
          </a:p>
        </p:txBody>
      </p:sp>
      <p:sp>
        <p:nvSpPr>
          <p:cNvPr id="5" name="지표카드_주문 수"/>
          <p:cNvSpPr/>
          <p:nvPr/>
        </p:nvSpPr>
        <p:spPr>
          <a:xfrm>
            <a:off x="4322978" y="1828800"/>
            <a:ext cx="3545738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주문 수</a:t>
            </a:r>
          </a:p>
          <a:p>
            <a:pPr algn="l">
              <a:spcBef>
                <a:spcPts val="600"/>
              </a:spcBef>
            </a:pPr>
            <a:r>
              <a:rPr sz="3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2,203건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중복을 정리한 뒤의 건수</a:t>
            </a:r>
          </a:p>
        </p:txBody>
      </p:sp>
      <p:sp>
        <p:nvSpPr>
          <p:cNvPr id="6" name="지표카드_평균 평점"/>
          <p:cNvSpPr/>
          <p:nvPr/>
        </p:nvSpPr>
        <p:spPr>
          <a:xfrm>
            <a:off x="8097316" y="1828800"/>
            <a:ext cx="3545738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평균 평점</a:t>
            </a:r>
          </a:p>
          <a:p>
            <a:pPr algn="l">
              <a:spcBef>
                <a:spcPts val="600"/>
              </a:spcBef>
            </a:pPr>
            <a:r>
              <a:rPr sz="3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4.44점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응답 2,139건 기준</a:t>
            </a:r>
          </a:p>
        </p:txBody>
      </p:sp>
      <p:sp>
        <p:nvSpPr>
          <p:cNvPr id="7" name="지표카드_마진율"/>
          <p:cNvSpPr/>
          <p:nvPr/>
        </p:nvSpPr>
        <p:spPr>
          <a:xfrm>
            <a:off x="548640" y="4160520"/>
            <a:ext cx="3545738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마진율</a:t>
            </a:r>
          </a:p>
          <a:p>
            <a:pPr algn="l">
              <a:spcBef>
                <a:spcPts val="600"/>
              </a:spcBef>
            </a:pPr>
            <a:r>
              <a:rPr sz="32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53.2%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원가만 뺀 값, 이익률 아님</a:t>
            </a:r>
          </a:p>
        </p:txBody>
      </p:sp>
      <p:sp>
        <p:nvSpPr>
          <p:cNvPr id="8" name="지표카드_평균 주문금액"/>
          <p:cNvSpPr/>
          <p:nvPr/>
        </p:nvSpPr>
        <p:spPr>
          <a:xfrm>
            <a:off x="4322978" y="4160520"/>
            <a:ext cx="3545738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평균 주문금액</a:t>
            </a:r>
          </a:p>
          <a:p>
            <a:pPr algn="l">
              <a:spcBef>
                <a:spcPts val="600"/>
              </a:spcBef>
            </a:pPr>
            <a:r>
              <a:rPr sz="32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93,180원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주문 한 건당 금액</a:t>
            </a:r>
          </a:p>
        </p:txBody>
      </p:sp>
      <p:sp>
        <p:nvSpPr>
          <p:cNvPr id="9" name="지표카드_평균 배송일"/>
          <p:cNvSpPr/>
          <p:nvPr/>
        </p:nvSpPr>
        <p:spPr>
          <a:xfrm>
            <a:off x="8097316" y="4160520"/>
            <a:ext cx="3545738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평균 배송일</a:t>
            </a:r>
          </a:p>
          <a:p>
            <a:pPr algn="l">
              <a:spcBef>
                <a:spcPts val="600"/>
              </a:spcBef>
            </a:pPr>
            <a:r>
              <a:rPr sz="32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3.45일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배송 기록 2,199건 기준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머리말"/>
          <p:cNvSpPr txBox="1"/>
          <p:nvPr/>
        </p:nvSpPr>
        <p:spPr>
          <a:xfrm>
            <a:off x="548640" y="320040"/>
            <a:ext cx="11094415" cy="1325880"/>
          </a:xfrm>
          <a:prstGeom prst="rect">
            <a:avLst/>
          </a:prstGeom>
          <a:noFill/>
        </p:spPr>
        <p:txBody>
          <a:bodyPr wrap="square" anchor="t" tIns="73152" bIns="73152">
            <a:no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확인이 필요한 부분과 한계</a:t>
            </a:r>
          </a:p>
          <a:p>
            <a:pPr algn="l">
              <a:spcBef>
                <a:spcPts val="200"/>
              </a:spcBef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결론으로 쓰기 전에 사람이 정할 것과 데이터의 한계가 있습니다</a:t>
            </a:r>
          </a:p>
        </p:txBody>
      </p:sp>
      <p:sp>
        <p:nvSpPr>
          <p:cNvPr id="3" name="장식_구분선"/>
          <p:cNvSpPr/>
          <p:nvPr/>
        </p:nvSpPr>
        <p:spPr>
          <a:xfrm>
            <a:off x="548640" y="1700784"/>
            <a:ext cx="11094415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확인필요"/>
          <p:cNvSpPr/>
          <p:nvPr/>
        </p:nvSpPr>
        <p:spPr>
          <a:xfrm>
            <a:off x="548640" y="1828800"/>
            <a:ext cx="5394960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28600" rIns="228600" tIns="73152" bIns="73152">
            <a:noAutofit/>
          </a:bodyPr>
          <a:lstStyle/>
          <a:p>
            <a:pPr algn="l"/>
            <a:r>
              <a:rPr sz="22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사람이 정할 것 (승인 필요 6건)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같은 주문번호에 수량이 다른 기록 2행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배송 45일로 적힌 기록 4행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배송비 4,584,000원을 매출에 넣을지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반품을 매출에서 뺄지</a:t>
            </a:r>
          </a:p>
          <a:p>
            <a:pPr algn="l">
              <a:spcBef>
                <a:spcPts val="200"/>
              </a:spcBef>
            </a:pPr>
            <a:r>
              <a:rPr sz="20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  빼면 총매출 195,141,300원</a:t>
            </a:r>
          </a:p>
        </p:txBody>
      </p:sp>
      <p:sp>
        <p:nvSpPr>
          <p:cNvPr id="5" name="한계"/>
          <p:cNvSpPr/>
          <p:nvPr/>
        </p:nvSpPr>
        <p:spPr>
          <a:xfrm>
            <a:off x="6248095" y="1828800"/>
            <a:ext cx="5394960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28600" rIns="228600" tIns="73152" bIns="73152">
            <a:no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데이터의 한계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연습용 모의 데이터 — 판단 근거 아님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마진은 원가만 뺀 값 — 이익이 아님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한 해 자료뿐 — 계절 효과 판단 불가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함께 움직여도 원인은 알 수 없음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평점 무응답 64건은 0점으로 세지 않음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2025년 주문 데이터 분석 발표 (복구본)</dc:title>
  <dc:subject/>
  <dc:creator>AI 코딩 에이전트 입문 3차시 강사용 예시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